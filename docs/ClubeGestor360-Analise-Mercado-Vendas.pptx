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de análise de mercado e estratégia de vendas do Clube Gestor 360. Versão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Mercado gigante, digital ainda imaturo. Grande oportunidade para uma solução nativa em português, focada em PIX e realidade brasileira.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Concorrentes internacionais são robustos mas caros em USD e sem foco no Brasil. NextFit é o rival local mais próximo, mas focado em academias, não clubes multi-esporte.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Nossa vantagem competitiva está nas features únicas: Lousa Digital e Check-in por geolocalização. Nossa lacuna principal é o app mobile nativo e pagamento automatizado.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5 diferenciais são o argumento central de venda. Nenhum concorrente combina todos eles. Especialmente Lousa Digital + Geolocalização são exclusividades.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Pagamento automático é a maior dor dos clientes hoje. Deve ser prioridade #1 do roadmap. PWA é um caminho mais rápido que app nativo.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Focar primeiro em clubes de padel e tênis: maior volume de transações, maior dor com reservas, maior ticket médio.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Começar com Instagram + venda direta em eventos de padel. Trial gratuito é chave para reduzir fricção. LinkedIn para condomínios e gestores corporativos.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Plano Profissional é o foco das vendas. Starter serve para entrada/teste. Enterprise para redes maiores. Ticket médio esperado: R$ 397.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 1 é tudo de valdiação — não cobrar ainda. Fase 2 é a virada. Meta realista de R$ 50K MRR ao final do primeiro ano com 150 clientes pagantes.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 abaixo de 5% requer onboarding excelente. NPS acima de 50 requer que o produto realmente resolva o problema. Foco em qualidade antes de quantidade.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encerramento. Os 3 proximos passos concretos para iniciar a execucao.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286000"/>
            <a:ext cx="2560320" cy="256032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008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028090">
              <a:alpha val="30000"/>
            </a:srgbClr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2C39A"/>
                </a:solidFill>
              </a:rPr>
              <a:t>ANÁLISE DE MERCADO &amp; ESTRATÉGIA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Clube Gestor 360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Como posicionar, vender e crescer no mercado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de gestão para clubes esportivos no Brasil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3749040"/>
            <a:ext cx="1828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2025–2026  ·  Versão 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Oportunidade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O Brasil tem um dos mercados de esporte e lazer mais atrativos do mundo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R$ 12B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faturamento anual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do setor fitness brasileiro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5087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29.125+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23317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academias e clubes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 Brasil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5087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2º lugar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35040" y="23317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 ranking mundial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de estabelecimentos fitness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E6F7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</a:rPr>
              <a:t>📈  </a:t>
            </a:r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</a:rPr>
              <a:t>A pandemia acelerou a digitalização dos clubes. Hoje,</a:t>
            </a:r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 +60% dos gestores</a:t>
            </a:r>
            <a:pPr indent="0" marL="0">
              <a:buNone/>
            </a:pPr>
            <a:r>
              <a:rPr lang="en-US" sz="1200" dirty="0">
                <a:solidFill>
                  <a:srgbClr val="0F2137"/>
                </a:solidFill>
              </a:rPr>
              <a:t> buscam ferramentas online para reservas e controle — mas soluções brasileiras acessíveis são escassas.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Cenário Competitivo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Quem está no mercado e com qual proposta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2011680" cy="35204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8016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984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CourtReserve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🇺🇸 EUA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137"/>
                </a:solidFill>
              </a:rPr>
              <a:t>Tênis / Padel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$199–$549/mês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633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App nativo iOS/Android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Ligues &amp; torneios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3218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Pagamentos integrados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35112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Até 32 quadras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68880" y="1280160"/>
            <a:ext cx="2011680" cy="35204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28016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12984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NextFit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🇧🇷 Brasil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137"/>
                </a:solidFill>
              </a:rPr>
              <a:t>Academias + clubes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Plano variável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2633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PIX / boleto / cartão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560320" y="2926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Gestão de alunos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60320" y="3218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Check-in digital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60320" y="35112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App para sócios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17720" y="1280160"/>
            <a:ext cx="2011680" cy="35204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28016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2984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Playbypoint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772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🇺🇸 EUA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1772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137"/>
                </a:solidFill>
              </a:rPr>
              <a:t>Esportes de raquete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1772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4 tiers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9160" y="2633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Booking online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09160" y="2926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Matchmaking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09160" y="3218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4 planos distintos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09160" y="35112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Multi-plataforma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66560" y="1280160"/>
            <a:ext cx="2011680" cy="35204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766560" y="128016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12984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Matchpoint TPC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76656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🇪🇺 Europa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76656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137"/>
                </a:solidFill>
              </a:rPr>
              <a:t>Acesso autônomo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Sob consulta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58000" y="26334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Trava inteligente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858000" y="29260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Acesso por PIN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58000" y="32186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Sem funcionário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58000" y="35112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• Clubs desacompanhados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Clube Gestor 360 vs. Concorrentes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560320" cy="347472"/>
          </a:xfrm>
          <a:prstGeom prst="rect">
            <a:avLst/>
          </a:prstGeom>
          <a:solidFill>
            <a:srgbClr val="0F213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Funcionalidade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898648" y="914400"/>
            <a:ext cx="11887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98648" y="914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CG 360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05656" y="914400"/>
            <a:ext cx="13716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05656" y="914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CourtReserve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95544" y="914400"/>
            <a:ext cx="118872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95544" y="91440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NextFit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702552" y="914400"/>
            <a:ext cx="13716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02552" y="914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Playbypoint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1261872"/>
            <a:ext cx="25603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261872"/>
            <a:ext cx="256032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137"/>
                </a:solidFill>
              </a:rPr>
              <a:t>Reservas online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898648" y="1261872"/>
            <a:ext cx="11887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98648" y="1261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05656" y="1261872"/>
            <a:ext cx="137160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05656" y="1261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95544" y="1261872"/>
            <a:ext cx="11887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95544" y="1261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02552" y="1261872"/>
            <a:ext cx="137160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02552" y="1261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1581912"/>
            <a:ext cx="25603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581912"/>
            <a:ext cx="256032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137"/>
                </a:solidFill>
              </a:rPr>
              <a:t>Lousa digital p/ staff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898648" y="1581912"/>
            <a:ext cx="11887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98648" y="15819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05656" y="1581912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05656" y="1581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95544" y="1581912"/>
            <a:ext cx="11887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95544" y="15819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702552" y="1581912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2552" y="1581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1901952"/>
            <a:ext cx="25603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1901952"/>
            <a:ext cx="256032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137"/>
                </a:solidFill>
              </a:rPr>
              <a:t>Check-in por geolocation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898648" y="1901952"/>
            <a:ext cx="11887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98648" y="19019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05656" y="1901952"/>
            <a:ext cx="137160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05656" y="1901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95544" y="1901952"/>
            <a:ext cx="11887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95544" y="19019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702552" y="1901952"/>
            <a:ext cx="137160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02552" y="1901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0040" y="2221992"/>
            <a:ext cx="25603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2221992"/>
            <a:ext cx="256032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137"/>
                </a:solidFill>
              </a:rPr>
              <a:t>Fila de espera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898648" y="2221992"/>
            <a:ext cx="11887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98648" y="22219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05656" y="2221992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05656" y="2221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95544" y="2221992"/>
            <a:ext cx="11887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95544" y="22219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702552" y="2221992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02552" y="22219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20040" y="2542032"/>
            <a:ext cx="25603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2542032"/>
            <a:ext cx="256032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137"/>
                </a:solidFill>
              </a:rPr>
              <a:t>Multi-esporte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898648" y="2542032"/>
            <a:ext cx="11887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98648" y="2542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105656" y="2542032"/>
            <a:ext cx="137160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05656" y="2542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PARCIAL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495544" y="2542032"/>
            <a:ext cx="11887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95544" y="2542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702552" y="2542032"/>
            <a:ext cx="137160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2552" y="2542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20040" y="2862072"/>
            <a:ext cx="25603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2862072"/>
            <a:ext cx="256032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137"/>
                </a:solidFill>
              </a:rPr>
              <a:t>Controle de no-show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898648" y="2862072"/>
            <a:ext cx="11887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98648" y="28620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05656" y="2862072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05656" y="2862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495544" y="2862072"/>
            <a:ext cx="11887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95544" y="28620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702552" y="2862072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02552" y="2862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20040" y="3182112"/>
            <a:ext cx="25603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" y="3182112"/>
            <a:ext cx="256032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137"/>
                </a:solidFill>
              </a:rPr>
              <a:t>Bloqueio automatico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898648" y="3182112"/>
            <a:ext cx="11887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898648" y="3182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105656" y="3182112"/>
            <a:ext cx="137160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05656" y="3182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495544" y="3182112"/>
            <a:ext cx="11887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95544" y="3182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702552" y="3182112"/>
            <a:ext cx="137160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02552" y="31821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320040" y="3502152"/>
            <a:ext cx="25603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20040" y="3502152"/>
            <a:ext cx="256032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137"/>
                </a:solidFill>
              </a:rPr>
              <a:t>PIX nativo Brasil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2898648" y="3502152"/>
            <a:ext cx="11887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898648" y="35021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105656" y="3502152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105656" y="3502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495544" y="3502152"/>
            <a:ext cx="11887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495544" y="35021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702552" y="3502152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702552" y="3502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20040" y="3822192"/>
            <a:ext cx="25603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0040" y="3822192"/>
            <a:ext cx="256032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137"/>
                </a:solidFill>
              </a:rPr>
              <a:t>App mobile nativo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2898648" y="3822192"/>
            <a:ext cx="11887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898648" y="3822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105656" y="3822192"/>
            <a:ext cx="137160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105656" y="3822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5495544" y="3822192"/>
            <a:ext cx="11887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495544" y="38221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702552" y="3822192"/>
            <a:ext cx="137160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702552" y="38221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320040" y="4142232"/>
            <a:ext cx="25603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20040" y="4142232"/>
            <a:ext cx="256032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137"/>
                </a:solidFill>
              </a:rPr>
              <a:t>Pagamento automatizado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2898648" y="4142232"/>
            <a:ext cx="11887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898648" y="41422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4105656" y="4142232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105656" y="4142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5495544" y="4142232"/>
            <a:ext cx="11887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495544" y="41422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6702552" y="4142232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702552" y="41422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320040" y="4462272"/>
            <a:ext cx="25603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20040" y="4462272"/>
            <a:ext cx="256032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137"/>
                </a:solidFill>
              </a:rPr>
              <a:t>Ligas &amp; torneios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2898648" y="4462272"/>
            <a:ext cx="11887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898648" y="44622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4105656" y="4462272"/>
            <a:ext cx="137160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4105656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5495544" y="4462272"/>
            <a:ext cx="118872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495544" y="44622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6702552" y="4462272"/>
            <a:ext cx="1371600" cy="320040"/>
          </a:xfrm>
          <a:prstGeom prst="rect">
            <a:avLst/>
          </a:prstGeom>
          <a:solidFill>
            <a:srgbClr val="F8FFFE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702552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320040" y="4782312"/>
            <a:ext cx="25603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20040" y="4782312"/>
            <a:ext cx="2560320" cy="320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F2137"/>
                </a:solidFill>
              </a:rPr>
              <a:t>Matchmaking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2898648" y="4782312"/>
            <a:ext cx="11887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898648" y="4782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4105656" y="4782312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105656" y="4782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5495544" y="4782312"/>
            <a:ext cx="118872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495544" y="47823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NAO</a:t>
            </a:r>
            <a:endParaRPr lang="en-US" sz="800" dirty="0"/>
          </a:p>
        </p:txBody>
      </p:sp>
      <p:sp>
        <p:nvSpPr>
          <p:cNvPr id="131" name="Shape 129"/>
          <p:cNvSpPr/>
          <p:nvPr/>
        </p:nvSpPr>
        <p:spPr>
          <a:xfrm>
            <a:off x="6702552" y="4782312"/>
            <a:ext cx="1371600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702552" y="4782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SIM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Nossos Diferenciais Únicos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O que só o Clube Gestor 360 oferece — e nenhum concorrente tem igual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92B4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Lousa Digital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90195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Tela exclusiva para funcionários, atualização em tempo real do status de todas as quadras. Nenhum concorrente oferece.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92B4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94760" y="14813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Check-in por GPS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90195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Confirma presença do sócio por geolocalização. Elimina fraudes e garante que apenas quem está presente ocupe a vaga.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92B4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14813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Controle de No-Show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190195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Registro automático de faltas e bloqueio temporário do sócio reincidente. Reduz desperdício de quadras.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92B4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3063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🏟️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Multi-Esporte Nativo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50215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Módulos configuráveis para tênis, padel, natação, futebol e outros. Um único sistema para todo o clube.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92B4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063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🇧🇷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794760" y="30815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PIX Nativo e BR-First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502152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Interface em português, fluxo para PIX, cultura de clubes sociais brasileiros. Concorrentes internacionais não entendem esse mercado.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de Evolução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Prioridades para fechar lacunas e ampliar competitividade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1 — Curto prazo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29768" y="1810512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1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233172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💳  Pagamento automático via PIX (sem upload manual)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" y="2679192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1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97480"/>
            <a:ext cx="233172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📱  PWA progressivo (experiência mobile sem app nativo)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" y="3547872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1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566160"/>
            <a:ext cx="233172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📧  Notificações por WhatsApp/e-mail (lembretes de reserva)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2344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23444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2 — Médio prazo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1810512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1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828800"/>
            <a:ext cx="233172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📱  App nativo iOS + Android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10128" y="2679192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1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697480"/>
            <a:ext cx="233172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🏆  Módulo de ligas e torneios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0128" y="3547872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1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3566160"/>
            <a:ext cx="233172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💬  Marketing automation (CRM simples integrado)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0760" y="12344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1234440"/>
            <a:ext cx="2651760" cy="45720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234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3 — Longo prazo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90488" y="1810512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1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828800"/>
            <a:ext cx="233172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🤝  Matchmaking de jogadores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90488" y="2679192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1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697480"/>
            <a:ext cx="233172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🔐  Integração com acesso físico (trava inteligente / PIN)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90488" y="3547872"/>
            <a:ext cx="2423160" cy="777240"/>
          </a:xfrm>
          <a:prstGeom prst="roundRect">
            <a:avLst>
              <a:gd name="adj" fmla="val 11765"/>
            </a:avLst>
          </a:prstGeom>
          <a:solidFill>
            <a:srgbClr val="F1FA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3566160"/>
            <a:ext cx="2331720" cy="7498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🌐  Suporte multi-unidade (rede de clubes)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Compra o Sistema?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Perfil de cliente ideal (ICP) — segmentos com maior propensão e ticket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🎾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</a:rPr>
              <a:t>Clubes de Padel &amp; Tênis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6733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</a:rPr>
              <a:t>⭐ Prioridade #1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4–16 quadras, mensalistas + avulsos. Alta demanda por reservas e controle de fila. Maior ticket e volume.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18872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9496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</a:rPr>
              <a:t>Condomínios Esportivos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94960" y="16733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</a:rPr>
              <a:t>⭐⭐ Alta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Gestão de quadras para moradores. Demanda por controle de acesso, check-in e relatórios para síndicos.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🏫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09728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</a:rPr>
              <a:t>Escolas de Esporte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547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⭐⭐ Alta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886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Aulas regulares + aluguel de quadras. Precisa de cadastro de alunos, turmas e professores.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306324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🏋️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39496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37"/>
                </a:solidFill>
              </a:rPr>
              <a:t>Academias c/ Quadras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3547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⭐ Médio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3886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Academias que oferecem tênis, futsal ou natação além das salas. Já têm base de clientes para ativar.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Canais de Venda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Como chegar nos clientes certos sem gastar muito no início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92B4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📲  Instagram &amp; TikTok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Inbound  ·  Alto ROI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947672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Conteúdo educativo para gestores: como organizar filas, reduzir no-shows, automatizar reservas.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92B4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💼  LinkedIn B2B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17190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96"/>
                </a:solidFill>
              </a:rPr>
              <a:t>Inbound  ·  Médio ROI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37560" y="1947672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Atingir donos de clubes, diretores esportivos e síndicos de condomínios. Artigos + demos em vídeo.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076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92B4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🤝  Venda Direta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17190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C39A"/>
                </a:solidFill>
              </a:rPr>
              <a:t>Outbound  ·  Alto ROI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0" y="1947672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Prospecção ativa em associações esportivas, torneiros de padel e federações. 1 vendedor dedicado.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92B4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📺  YouTube / SEO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56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</a:rPr>
              <a:t>Inbound  ·  Longo prazo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685032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Tutoriais sobre gestão de clubes. Gera autoridade e ranqueamento orgânico para buscas de longo prazo.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0" y="30175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92B4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3756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🔗  Parcerias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456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Parceria  ·  Baixo custo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37560" y="3685032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Fornecedores de tapetes, raquetes, iluminação LED para quadras. Indicações cruzadas com comissão.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80760" y="30175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92B4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🆓  Freemium / Trial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34564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</a:rPr>
              <a:t>PLG  ·  Viral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0" y="3685032"/>
            <a:ext cx="23774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30 dias grátis sem cartão. Clube experimenta, vicia na lousa digital e não quer mais voltar ao WhatsApp.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Precificação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SaaS com assinatura mensal — sem taxa de setup, sem contratos longos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270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137"/>
                </a:solidFill>
              </a:rPr>
              <a:t>Starter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892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R$ 197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/mes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ate 4 quadras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8680" y="2971800"/>
            <a:ext cx="1874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 Reservas online ilimitadas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4107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 Painel do socio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3712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 Lousa digital basica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4014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 Relatorios simples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4315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 Suporte por e-mail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11880" y="978408"/>
            <a:ext cx="1965960" cy="27432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9784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MAIS POPULAR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91840" y="132588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E6F7F8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203200" dist="508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15270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Profissional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1892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R$ 397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291840" y="2423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/mes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2651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ate 12 quadras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0" y="2971800"/>
            <a:ext cx="1874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137"/>
                </a:solidFill>
              </a:rPr>
              <a:t>✓  Tudo do Starter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20440" y="34107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137"/>
                </a:solidFill>
              </a:rPr>
              <a:t>✓  Fila de espera + geoloc.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20440" y="3712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137"/>
                </a:solidFill>
              </a:rPr>
              <a:t>✓  Check-in automatico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20440" y="4014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137"/>
                </a:solidFill>
              </a:rPr>
              <a:t>✓  No-show tracking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20440" y="4315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137"/>
                </a:solidFill>
              </a:rPr>
              <a:t>✓  Notificacoes WhatsApp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0440" y="4617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2137"/>
                </a:solidFill>
              </a:rPr>
              <a:t>✓  Suporte prioritario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1325880"/>
            <a:ext cx="2606040" cy="35204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080760" y="15270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137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80760" y="1892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R$ 797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080760" y="24231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/mes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0760" y="26517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quadras ilimitadas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46520" y="2971800"/>
            <a:ext cx="18745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 Tudo do Profissional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09360" y="34107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 Multi-unidade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09360" y="3712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 API publica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40142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 Integracao PIX automatico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09360" y="4315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 Onboarding dedicado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4617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✓  SLA 99,9%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Go-to-Market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Lançamento em 3 etapas — foco, tração e escala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34440" y="1234440"/>
            <a:ext cx="822960" cy="8229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2148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Validação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(Meses 1–3)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7889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8529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▸  Fechar 10 clientes piloto gratuitos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33009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▸  Coletar NPS e depoimentos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▸  Refinar fluxo de pagamento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1970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▸  Criar casos de sucesso reais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0" y="123444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8064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00400" y="2148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Tração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(Meses 4–8)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00400" y="27889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28529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▸  Ativar planos pagos (R$197–R$397)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33009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▸  Lançar Instagram com conteúdo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37560" y="3749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▸  Participar de 2 eventos de padel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37560" y="41970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▸  Meta: 50 clientes pagantes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95160" y="1234440"/>
            <a:ext cx="822960" cy="8229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234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80760" y="21488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Escala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(Meses 9–12)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80760" y="2788920"/>
            <a:ext cx="2606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285292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▸  Contratar 1 SDR / vendedor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0" y="33009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▸  Lançar plano Enterprise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3749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▸  Parcerias com fornecedores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17920" y="4197096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▸  Meta: 150 clientes / R$50K MRR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 e Métricas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Como medir sucesso no primeiro ano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38988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2011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</a:rPr>
              <a:t>clientes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pagantes no mês 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38988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R$50K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68880" y="2011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</a:rPr>
              <a:t>MRR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receita mensal recorrente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2801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38988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17720" y="2011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</a:rPr>
              <a:t>churn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taxa de cancelamento mensal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28016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38988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766560" y="20116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37"/>
                </a:solidFill>
              </a:rPr>
              <a:t>NPS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22860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satisfação dos gestores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8503920" cy="1783080"/>
          </a:xfrm>
          <a:prstGeom prst="roundRect">
            <a:avLst>
              <a:gd name="adj" fmla="val 5128"/>
            </a:avLst>
          </a:prstGeom>
          <a:solidFill>
            <a:srgbClr val="E6F7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90672"/>
            <a:ext cx="8229600" cy="162763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🎯  Foco total nos 3 primeiros meses:
</a:t>
            </a:r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validar com clientes reais, iterar rápido, documentar resultados.</a:t>
            </a:r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
📢  Diferencial de marketing:
</a:t>
            </a:r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mostrar a Lousa Digital funcionando ao vivo. Ninguém mais tem isso.</a:t>
            </a:r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
💡  Argumento de ROI:
</a:t>
            </a:r>
            <a:pPr indent="0" marL="0">
              <a:buNone/>
            </a:pPr>
            <a:r>
              <a:rPr lang="en-US" sz="950" dirty="0">
                <a:solidFill>
                  <a:srgbClr val="0F2137"/>
                </a:solidFill>
              </a:rPr>
              <a:t>um clube médio com 8 quadras fatura R$15K+/mês. Cobrar R$397 é menos de 3% da receita.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mercado está pronto.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Nós também.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Clube Gestor 360 — a plataforma brasileira que gestores de clubes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finalmente precisavam.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192B4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703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1.  Definir beta com 10 clubes piloto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370332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192B4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3703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2.  Configurar planos e pagamento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370332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192B40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3703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3.  Lancar presenca no Instagram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Clube Gestor 360 — Análise de Mercado &amp; Estratégia de Vendas</dc:title>
  <dc:subject>PptxGenJS Presentation</dc:subject>
  <dc:creator>Clube Gestor 360</dc:creator>
  <cp:lastModifiedBy>Clube Gestor 360</cp:lastModifiedBy>
  <cp:revision>1</cp:revision>
  <dcterms:created xsi:type="dcterms:W3CDTF">2026-06-13T21:12:17Z</dcterms:created>
  <dcterms:modified xsi:type="dcterms:W3CDTF">2026-06-13T21:12:17Z</dcterms:modified>
</cp:coreProperties>
</file>